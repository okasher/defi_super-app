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Constant Product Curve (x×y=k)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Reserves (x×y=k)</c:v>
                </c:pt>
              </c:strCache>
            </c:strRef>
          </c:tx>
          <c:spPr>
            <a:solidFill>
              <a:srgbClr val="06B6D4"/>
            </a:solidFill>
            <a:ln w="3810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120</c:v>
                </c:pt>
                <c:pt idx="11">
                  <c:v>150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1000</c:v>
                </c:pt>
                <c:pt idx="1">
                  <c:v>500</c:v>
                </c:pt>
                <c:pt idx="2">
                  <c:v>333</c:v>
                </c:pt>
                <c:pt idx="3">
                  <c:v>250</c:v>
                </c:pt>
                <c:pt idx="4">
                  <c:v>200</c:v>
                </c:pt>
                <c:pt idx="5">
                  <c:v>167</c:v>
                </c:pt>
                <c:pt idx="6">
                  <c:v>143</c:v>
                </c:pt>
                <c:pt idx="7">
                  <c:v>125</c:v>
                </c:pt>
                <c:pt idx="8">
                  <c:v>111</c:v>
                </c:pt>
                <c:pt idx="9">
                  <c:v>100</c:v>
                </c:pt>
                <c:pt idx="10">
                  <c:v>83</c:v>
                </c:pt>
                <c:pt idx="11">
                  <c:v>67</c:v>
                </c:pt>
              </c:numCache>
            </c:numRef>
          </c:yVal>
          <c:smooth val="1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a5a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5a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1318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Governance Vote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FOR</c:v>
                </c:pt>
                <c:pt idx="1">
                  <c:v>AGAINST</c:v>
                </c:pt>
                <c:pt idx="2">
                  <c:v>ABSTAIN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30</c:v>
                </c:pt>
                <c:pt idx="2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13184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(USD)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Ethereum L1</c:v>
                  </c:pt>
                  <c:pt idx="1">
                    <c:v>Polygon</c:v>
                  </c:pt>
                  <c:pt idx="2">
                    <c:v>Arbitrum L2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2.73</c:v>
                </c:pt>
                <c:pt idx="1">
                  <c:v>4.55</c:v>
                </c:pt>
                <c:pt idx="2">
                  <c:v>0.055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2D1B69">
              <a:alpha val="65000"/>
            </a:srgbClr>
          </a:solidFill>
          <a:ln w="12700">
            <a:solidFill>
              <a:srgbClr val="2D1B6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548640"/>
            <a:ext cx="109728" cy="10972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280160"/>
            <a:ext cx="109728" cy="10972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2286000"/>
            <a:ext cx="109728" cy="10972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822960"/>
            <a:ext cx="109728" cy="10972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1645920"/>
            <a:ext cx="109728" cy="10972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2926080"/>
            <a:ext cx="109728" cy="10972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3474720"/>
            <a:ext cx="109728" cy="10972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52944" y="603504"/>
            <a:ext cx="896112" cy="713232"/>
          </a:xfrm>
          <a:prstGeom prst="line">
            <a:avLst/>
          </a:prstGeom>
          <a:noFill/>
          <a:ln w="63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01584" y="1335024"/>
            <a:ext cx="585216" cy="-512064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87184" y="1700784"/>
            <a:ext cx="950976" cy="585216"/>
          </a:xfrm>
          <a:prstGeom prst="line">
            <a:avLst/>
          </a:prstGeom>
          <a:noFill/>
          <a:ln w="63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1584" y="2340864"/>
            <a:ext cx="219456" cy="585216"/>
          </a:xfrm>
          <a:prstGeom prst="line">
            <a:avLst/>
          </a:prstGeom>
          <a:noFill/>
          <a:ln w="635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82880"/>
            <a:ext cx="1645920" cy="3657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82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DeFi Super-App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Super-App: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365760" y="14173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Multi-Chain Protocol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65760" y="21031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AMM, DAO Governance, Yield Vaults, and Chainlink Oracles on Arbitrum L2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2633472"/>
            <a:ext cx="41148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834640"/>
            <a:ext cx="2029968" cy="1097280"/>
          </a:xfrm>
          <a:prstGeom prst="rect">
            <a:avLst/>
          </a:prstGeom>
          <a:solidFill>
            <a:srgbClr val="1E2A5E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834640"/>
            <a:ext cx="54864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80360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$1M+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" y="343814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TVL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96312" y="2834640"/>
            <a:ext cx="2029968" cy="1097280"/>
          </a:xfrm>
          <a:prstGeom prst="rect">
            <a:avLst/>
          </a:prstGeom>
          <a:solidFill>
            <a:srgbClr val="1E2A5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96312" y="2834640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33472" y="2880360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633472" y="343814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72584" y="2834640"/>
            <a:ext cx="2029968" cy="1097280"/>
          </a:xfrm>
          <a:prstGeom prst="rect">
            <a:avLst/>
          </a:prstGeom>
          <a:solidFill>
            <a:srgbClr val="1E2A5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72584" y="283464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2880360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09744" y="343814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Optimized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48856" y="2834640"/>
            <a:ext cx="2029968" cy="1097280"/>
          </a:xfrm>
          <a:prstGeom prst="rect">
            <a:avLst/>
          </a:prstGeom>
          <a:solidFill>
            <a:srgbClr val="1E2A5E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48856" y="2834640"/>
            <a:ext cx="54864" cy="10972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86016" y="2880360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9-Day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986016" y="343814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Timelock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 Fragmentation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59536"/>
            <a:ext cx="292608" cy="292608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59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82296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fees on Ethereum L1 ($3–4 per swap)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292608" cy="292608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35331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protocols — AMM, lending, governance separate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292608" cy="292608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188366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governance (days to weeks for protocol changes)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450592"/>
            <a:ext cx="292608" cy="292608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41401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oracle options (Chainlink only in some chains)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980944"/>
            <a:ext cx="292608" cy="292608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80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294436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UX — multiple apps, wallets, and networks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777240"/>
            <a:ext cx="1371600" cy="548640"/>
          </a:xfrm>
          <a:prstGeom prst="rect">
            <a:avLst/>
          </a:prstGeom>
          <a:solidFill>
            <a:srgbClr val="1E2A5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777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(Uniswap)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32320" y="1005840"/>
            <a:ext cx="1371600" cy="548640"/>
          </a:xfrm>
          <a:prstGeom prst="rect">
            <a:avLst/>
          </a:prstGeom>
          <a:solidFill>
            <a:srgbClr val="1E2A5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005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(Aave)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0" y="1965960"/>
            <a:ext cx="1371600" cy="548640"/>
          </a:xfrm>
          <a:prstGeom prst="rect">
            <a:avLst/>
          </a:prstGeom>
          <a:solidFill>
            <a:srgbClr val="1E2A5E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(Compound)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040880" y="2194560"/>
            <a:ext cx="1371600" cy="548640"/>
          </a:xfrm>
          <a:prstGeom prst="rect">
            <a:avLst/>
          </a:prstGeom>
          <a:solidFill>
            <a:srgbClr val="1E2A5E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(Chainlink)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0" y="3017520"/>
            <a:ext cx="1371600" cy="548640"/>
          </a:xfrm>
          <a:prstGeom prst="rect">
            <a:avLst/>
          </a:prstGeom>
          <a:solidFill>
            <a:srgbClr val="1E2A5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017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(Hop)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23760" y="3200400"/>
            <a:ext cx="1371600" cy="548640"/>
          </a:xfrm>
          <a:prstGeom prst="rect">
            <a:avLst/>
          </a:prstGeom>
          <a:solidFill>
            <a:srgbClr val="1E2A5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3200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(MetaMask)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46520" y="1051560"/>
            <a:ext cx="68580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446520" y="1325880"/>
            <a:ext cx="594360" cy="1005840"/>
          </a:xfrm>
          <a:prstGeom prst="line">
            <a:avLst/>
          </a:prstGeom>
          <a:noFill/>
          <a:ln w="12700">
            <a:solidFill>
              <a:srgbClr val="F97316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7132320" y="1554480"/>
            <a:ext cx="91440" cy="640080"/>
          </a:xfrm>
          <a:prstGeom prst="line">
            <a:avLst/>
          </a:prstGeom>
          <a:noFill/>
          <a:ln w="12700">
            <a:solidFill>
              <a:srgbClr val="FBBF24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537960" y="2514600"/>
            <a:ext cx="502920" cy="685800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669280" y="4160520"/>
            <a:ext cx="1115568" cy="640080"/>
          </a:xfrm>
          <a:prstGeom prst="rect">
            <a:avLst/>
          </a:prstGeom>
          <a:solidFill>
            <a:srgbClr val="1E2A5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416052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$50/mo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69280" y="450799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gas fees alone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39712" y="4160520"/>
            <a:ext cx="1115568" cy="640080"/>
          </a:xfrm>
          <a:prstGeom prst="rect">
            <a:avLst/>
          </a:prstGeom>
          <a:solidFill>
            <a:srgbClr val="1E2A5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39712" y="416052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apps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39712" y="450799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use DeFi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010144" y="4160520"/>
            <a:ext cx="1115568" cy="640080"/>
          </a:xfrm>
          <a:prstGeom prst="rect">
            <a:avLst/>
          </a:prstGeom>
          <a:solidFill>
            <a:srgbClr val="1E2A5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10144" y="416052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010144" y="450799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0040" y="3749040"/>
            <a:ext cx="5120640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7490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DeFi action requires navigating a maze of disconnected protocols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Super-App: Unified, Secure, Efficient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29000" y="1417320"/>
            <a:ext cx="2286000" cy="2286000"/>
          </a:xfrm>
          <a:prstGeom prst="ellipse">
            <a:avLst/>
          </a:prstGeom>
          <a:solidFill>
            <a:srgbClr val="1A1F4D"/>
          </a:solidFill>
          <a:ln w="3810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29000" y="14173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" y="868680"/>
            <a:ext cx="20116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" y="868680"/>
            <a:ext cx="54864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886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AMM Engine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12527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Constant-product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 fees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" y="2743200"/>
            <a:ext cx="20116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" y="2743200"/>
            <a:ext cx="54864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" y="27614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 Governance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" y="31272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voting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timelock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3520440"/>
            <a:ext cx="20116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3520440"/>
            <a:ext cx="5486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538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Yield Vault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39044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ERC4626 standard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Inflation-protected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3520440"/>
            <a:ext cx="20116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0" y="3520440"/>
            <a:ext cx="54864" cy="10058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3538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Price Oracle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39044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feeds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check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40880" y="2286000"/>
            <a:ext cx="20116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0" y="2286000"/>
            <a:ext cx="54864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2304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Analytics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26700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queries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40880" y="777240"/>
            <a:ext cx="20116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40880" y="777240"/>
            <a:ext cx="54864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795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React UI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11612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theme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wallet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71600" y="4809744"/>
            <a:ext cx="6400800" cy="274320"/>
          </a:xfrm>
          <a:prstGeom prst="rect">
            <a:avLst/>
          </a:prstGeom>
          <a:solidFill>
            <a:srgbClr val="1A1F4D"/>
          </a:solidFill>
          <a:ln w="12700">
            <a:solidFill>
              <a:srgbClr val="1A1F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DeFi platform with institutional-grade security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2D1B69">
              <a:alpha val="60000"/>
            </a:srgbClr>
          </a:solidFill>
          <a:ln w="12700">
            <a:solidFill>
              <a:srgbClr val="2D1B6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Technical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5943600" cy="1097280"/>
          </a:xfrm>
          <a:prstGeom prst="rect">
            <a:avLst/>
          </a:prstGeom>
          <a:solidFill>
            <a:srgbClr val="1A3A5C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640080"/>
            <a:ext cx="54864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7665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React + Vite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179576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Ethers.js Integration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MetaMask Connect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563624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Swap | Liquidity | DAO | Analytics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10512"/>
            <a:ext cx="5943600" cy="1371600"/>
          </a:xfrm>
          <a:prstGeom prst="rect">
            <a:avLst/>
          </a:prstGeom>
          <a:solidFill>
            <a:srgbClr val="2A1A5C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10512"/>
            <a:ext cx="54864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4708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(Arbitrum Sepolia L2)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157984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AMM Pool &amp; Factory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35000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Governor + Timelock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54203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Governance Token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734056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Yield Vault (ERC4626)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292608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Price Oracle (UUPS Proxy)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246120"/>
            <a:ext cx="5943600" cy="960120"/>
          </a:xfrm>
          <a:prstGeom prst="rect">
            <a:avLst/>
          </a:prstGeom>
          <a:solidFill>
            <a:srgbClr val="1A1A3C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24612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8269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59359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The Graph Subgraph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785616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GraphQL Endpoint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97764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Proposal / Vote / Swap Events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88720" y="1737360"/>
            <a:ext cx="0" cy="73152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3182112"/>
            <a:ext cx="0" cy="64008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594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914400"/>
            <a:ext cx="2331720" cy="713232"/>
          </a:xfrm>
          <a:prstGeom prst="rect">
            <a:avLst/>
          </a:prstGeom>
          <a:solidFill>
            <a:srgbClr val="13184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9144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92240" y="12984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Contracts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0" y="1719072"/>
            <a:ext cx="2331720" cy="713232"/>
          </a:xfrm>
          <a:prstGeom prst="rect">
            <a:avLst/>
          </a:prstGeom>
          <a:solidFill>
            <a:srgbClr val="13184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171907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492240" y="21031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(95%)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92240" y="2523744"/>
            <a:ext cx="2331720" cy="713232"/>
          </a:xfrm>
          <a:prstGeom prst="rect">
            <a:avLst/>
          </a:prstGeom>
          <a:solidFill>
            <a:srgbClr val="131844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252374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492240" y="29077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Arbitrum Deployment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92240" y="3328416"/>
            <a:ext cx="2331720" cy="713232"/>
          </a:xfrm>
          <a:prstGeom prst="rect">
            <a:avLst/>
          </a:prstGeom>
          <a:solidFill>
            <a:srgbClr val="131844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32841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UUPS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492240" y="371246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Pattern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92240" y="4160520"/>
            <a:ext cx="2331720" cy="548640"/>
          </a:xfrm>
          <a:prstGeom prst="rect">
            <a:avLst/>
          </a:prstGeom>
          <a:solidFill>
            <a:srgbClr val="1A2A3A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4160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Chainlink Oracles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(External price feeds)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Market Maker: x × y = 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3291840" cy="2103120"/>
          </a:xfrm>
          <a:prstGeom prst="rect">
            <a:avLst/>
          </a:prstGeom>
          <a:solidFill>
            <a:srgbClr val="131844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× y ≥ 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algn="l" indent="0" marL="0">
              <a:buNone/>
            </a:pPr>
            <a:r>
              <a:rPr lang="en-US" sz="12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Token0 reserves
</a:t>
            </a:r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algn="l" indent="0" marL="0">
              <a:buNone/>
            </a:pPr>
            <a:r>
              <a:rPr lang="en-US" sz="12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Token1 reserves
</a:t>
            </a:r>
            <a:pPr algn="l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algn="l" indent="0" marL="0">
              <a:buNone/>
            </a:pPr>
            <a:r>
              <a:rPr lang="en-US" sz="12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constant product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880360"/>
            <a:ext cx="3291840" cy="50292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as Uniswap 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(battle-tested, $billions in TVL)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0" y="68580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520440"/>
            <a:ext cx="2743200" cy="777240"/>
          </a:xfrm>
          <a:prstGeom prst="rect">
            <a:avLst/>
          </a:prstGeom>
          <a:solidFill>
            <a:srgbClr val="1E2A5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0.3% Fee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" y="3931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to LPs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3520440"/>
            <a:ext cx="2743200" cy="777240"/>
          </a:xfrm>
          <a:prstGeom prst="rect">
            <a:avLst/>
          </a:prstGeom>
          <a:solidFill>
            <a:srgbClr val="1E2A5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9184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101k Gas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91840" y="3931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swap (Arb L2)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72200" y="3520440"/>
            <a:ext cx="2743200" cy="777240"/>
          </a:xfrm>
          <a:prstGeom prst="rect">
            <a:avLst/>
          </a:prstGeom>
          <a:solidFill>
            <a:srgbClr val="1E2A5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Packed Storage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17920" y="3931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uint112 reserves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2D1B69">
              <a:alpha val="60000"/>
            </a:srgbClr>
          </a:solidFill>
          <a:ln w="12700">
            <a:solidFill>
              <a:srgbClr val="2D1B6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Time-Locked DAO Governance: 9-Day Security Window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44168"/>
            <a:ext cx="5394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216152"/>
            <a:ext cx="274320" cy="27432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270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7647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1216152"/>
            <a:ext cx="274320" cy="27432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5270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17647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Starts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94760" y="1216152"/>
            <a:ext cx="274320" cy="27432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5270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7647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Ends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57800" y="1216152"/>
            <a:ext cx="274320" cy="27432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5270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17647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640080"/>
            <a:ext cx="1371600" cy="411480"/>
          </a:xfrm>
          <a:prstGeom prst="rect">
            <a:avLst/>
          </a:prstGeom>
          <a:solidFill>
            <a:srgbClr val="1E2A5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640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Delay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(7200 blocks)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0" y="640080"/>
            <a:ext cx="2834640" cy="411480"/>
          </a:xfrm>
          <a:prstGeom prst="rect">
            <a:avLst/>
          </a:prstGeom>
          <a:solidFill>
            <a:srgbClr val="1E2A5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640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Period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(50400 blocks)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640080"/>
            <a:ext cx="914400" cy="411480"/>
          </a:xfrm>
          <a:prstGeom prst="rect">
            <a:avLst/>
          </a:prstGeom>
          <a:solidFill>
            <a:srgbClr val="1E2A5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640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Timelock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days)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1965960"/>
            <a:ext cx="5486400" cy="457200"/>
          </a:xfrm>
          <a:prstGeom prst="rect">
            <a:avLst/>
          </a:prstGeom>
          <a:solidFill>
            <a:srgbClr val="10B981">
              <a:alpha val="2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Community can review &amp; audit changes for 9+ days!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2578608"/>
            <a:ext cx="219456" cy="219456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578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" y="2560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GOV threshold to propose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2907792"/>
            <a:ext cx="219456" cy="219456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907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" y="28895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quorum required to pass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0040" y="3236976"/>
            <a:ext cx="219456" cy="219456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236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" y="3218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 + Timelock separation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20040" y="3566160"/>
            <a:ext cx="219456" cy="219456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566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35478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Canceller role for emergencies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0040" y="3895344"/>
            <a:ext cx="219456" cy="219456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895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" y="38770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failure</a:t>
            </a:r>
            <a:endParaRPr lang="en-US" sz="11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5943600" y="1005840"/>
          <a:ext cx="29260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5943600" y="3429000"/>
            <a:ext cx="2926080" cy="1417320"/>
          </a:xfrm>
          <a:prstGeom prst="rect">
            <a:avLst/>
          </a:prstGeom>
          <a:solidFill>
            <a:srgbClr val="13184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89320" y="3456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Example Proposal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989320" y="3730752"/>
            <a:ext cx="2834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"Enable LINK/USD oracle feed"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Voted by GOV token holders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Executed after 9-day window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LPs &amp; traders benefit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 Security + 18.8% Gas Savings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Multi-Layer Protection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19456" cy="219456"/>
          </a:xfrm>
          <a:prstGeom prst="ellipse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0607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Slither static analysis (no critical vulnerabilities)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99032"/>
            <a:ext cx="219456" cy="219456"/>
          </a:xfrm>
          <a:prstGeom prst="ellipse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13807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K-invariant enforced in Yul assembly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719072"/>
            <a:ext cx="219456" cy="219456"/>
          </a:xfrm>
          <a:prstGeom prst="ellipse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190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" y="17007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validation on oracle feeds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039112"/>
            <a:ext cx="219456" cy="219456"/>
          </a:xfrm>
          <a:prstGeom prst="ellipse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" y="20208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ERC4626 inflation-attack protection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359152"/>
            <a:ext cx="219456" cy="219456"/>
          </a:xfrm>
          <a:prstGeom prst="ellipse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" y="23408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UUPS proxy for safe upgrades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679192"/>
            <a:ext cx="219456" cy="219456"/>
          </a:xfrm>
          <a:prstGeom prst="ellipse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6791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" y="26609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999232"/>
            <a:ext cx="219456" cy="219456"/>
          </a:xfrm>
          <a:prstGeom prst="ellipse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999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" y="29809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test cases — 95% code coverage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319272"/>
            <a:ext cx="219456" cy="219456"/>
          </a:xfrm>
          <a:prstGeom prst="ellipse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3192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" y="33009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OpenZeppelin battle-tested contracts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749040"/>
            <a:ext cx="5029200" cy="41148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749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Ready for professional audit before mainnet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6858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Gas Cost Breakdown</a:t>
            </a:r>
            <a:endParaRPr lang="en-US" sz="14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5577840" y="1051560"/>
          <a:ext cx="32918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Shape 30"/>
          <p:cNvSpPr/>
          <p:nvPr/>
        </p:nvSpPr>
        <p:spPr>
          <a:xfrm>
            <a:off x="5577840" y="3063240"/>
            <a:ext cx="3291840" cy="41148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77840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Arbitrum L2 → 95% cheaper than L1!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577840" y="3566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Techniques: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577840" y="38221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packing (reserves)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577840" y="40050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Yul assembly optimization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577840" y="41879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Caching storage reads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577840" y="43708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Bit-shifting for math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2D1B69">
              <a:alpha val="60000"/>
            </a:srgbClr>
          </a:solidFill>
          <a:ln w="12700">
            <a:solidFill>
              <a:srgbClr val="2D1B6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Validation &amp; Early Adoption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697480" cy="1234440"/>
          </a:xfrm>
          <a:prstGeom prst="rect">
            <a:avLst/>
          </a:prstGeom>
          <a:solidFill>
            <a:srgbClr val="1E2A5E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54864" cy="1234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68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19786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TVL (demo)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777240"/>
            <a:ext cx="2697480" cy="1234440"/>
          </a:xfrm>
          <a:prstGeom prst="rect">
            <a:avLst/>
          </a:prstGeom>
          <a:solidFill>
            <a:srgbClr val="1E2A5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777240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868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64408" y="119786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64408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Simulated Volume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25896" y="777240"/>
            <a:ext cx="2697480" cy="1234440"/>
          </a:xfrm>
          <a:prstGeom prst="rect">
            <a:avLst/>
          </a:prstGeom>
          <a:solidFill>
            <a:srgbClr val="1E2A5E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777240"/>
            <a:ext cx="54864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7336" y="868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17336" y="119786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17336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194560"/>
            <a:ext cx="2697480" cy="1234440"/>
          </a:xfrm>
          <a:prstGeom prst="rect">
            <a:avLst/>
          </a:prstGeom>
          <a:solidFill>
            <a:srgbClr val="1E2A5E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194560"/>
            <a:ext cx="54864" cy="1234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286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1480" y="261518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1148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Smart Contracts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72968" y="2194560"/>
            <a:ext cx="2697480" cy="1234440"/>
          </a:xfrm>
          <a:prstGeom prst="rect">
            <a:avLst/>
          </a:prstGeom>
          <a:solidFill>
            <a:srgbClr val="1E2A5E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2194560"/>
            <a:ext cx="54864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2286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64408" y="261518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pages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264408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25896" y="2194560"/>
            <a:ext cx="2697480" cy="1234440"/>
          </a:xfrm>
          <a:prstGeom prst="rect">
            <a:avLst/>
          </a:prstGeom>
          <a:solidFill>
            <a:srgbClr val="1E2A5E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25896" y="2194560"/>
            <a:ext cx="54864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17336" y="2286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17336" y="261518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Slither ✓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17336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 Done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886200"/>
            <a:ext cx="2697480" cy="548640"/>
          </a:xfrm>
          <a:prstGeom prst="rect">
            <a:avLst/>
          </a:prstGeom>
          <a:solidFill>
            <a:srgbClr val="1318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8862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" y="41605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Arbitrum Sepolia Testnet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72968" y="3886200"/>
            <a:ext cx="2697480" cy="548640"/>
          </a:xfrm>
          <a:prstGeom prst="rect">
            <a:avLst/>
          </a:prstGeom>
          <a:solidFill>
            <a:srgbClr val="131844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72968" y="38862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172968" y="41605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(3 weeks)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25896" y="3886200"/>
            <a:ext cx="2697480" cy="548640"/>
          </a:xfrm>
          <a:prstGeom prst="rect">
            <a:avLst/>
          </a:prstGeom>
          <a:solidFill>
            <a:srgbClr val="1318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25896" y="38862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Target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25896" y="41605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(pending audit)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Multi-Phase Roadmap to Market Leadership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685800"/>
            <a:ext cx="0" cy="4114800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77240" y="886968"/>
            <a:ext cx="365760" cy="365760"/>
          </a:xfrm>
          <a:prstGeom prst="ellipse">
            <a:avLst/>
          </a:prstGeom>
          <a:solidFill>
            <a:srgbClr val="06B6D4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685800"/>
            <a:ext cx="4754880" cy="868680"/>
          </a:xfrm>
          <a:prstGeom prst="rect">
            <a:avLst/>
          </a:prstGeom>
          <a:solidFill>
            <a:srgbClr val="1E2A5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685800"/>
            <a:ext cx="54864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713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LAUNCH | Q2 2026 — CURRENT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99669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AMM, Governor, Oracle deployed  •  React frontend (cyberpunk theme)  •  The Graph subgraph active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886968"/>
            <a:ext cx="1005840" cy="320040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8869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1920240"/>
            <a:ext cx="365760" cy="36576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1719072"/>
            <a:ext cx="4754880" cy="868680"/>
          </a:xfrm>
          <a:prstGeom prst="rect">
            <a:avLst/>
          </a:prstGeom>
          <a:solidFill>
            <a:srgbClr val="1E2A5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1719072"/>
            <a:ext cx="54864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17465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SECURITY &amp; POLISH | Q3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0299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security audit  •  Bug bounty program ($50k pool)  •  Mobile app (React Native)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1005840" cy="320040"/>
          </a:xfrm>
          <a:prstGeom prst="rect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920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" y="2953512"/>
            <a:ext cx="365760" cy="365760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2752344"/>
            <a:ext cx="4754880" cy="868680"/>
          </a:xfrm>
          <a:prstGeom prst="rect">
            <a:avLst/>
          </a:prstGeom>
          <a:solidFill>
            <a:srgbClr val="1E2A5E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2752344"/>
            <a:ext cx="54864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27797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MAINNET | Q4 2026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0632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Arbitrum One mainnet deployment  •  Institutional LP onboarding  •  $100M initial TVL target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953512"/>
            <a:ext cx="1005840" cy="320040"/>
          </a:xfrm>
          <a:prstGeom prst="rect">
            <a:avLst/>
          </a:prstGeom>
          <a:solidFill>
            <a:srgbClr val="FBBF24">
              <a:alpha val="4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9535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" y="3986784"/>
            <a:ext cx="365760" cy="36576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0160" y="3785616"/>
            <a:ext cx="4754880" cy="868680"/>
          </a:xfrm>
          <a:prstGeom prst="rect">
            <a:avLst/>
          </a:prstGeom>
          <a:solidFill>
            <a:srgbClr val="1E2A5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80160" y="3785616"/>
            <a:ext cx="54864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3813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EXPANSION | 2027+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17320" y="409651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Multi-chain: Optimism, Base, Polygon  •  Concentrated liquidity (V3 upgrade)  •  AI trading agents + cross-chain bridges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3986784"/>
            <a:ext cx="1005840" cy="320040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9867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69480" y="685800"/>
            <a:ext cx="1600200" cy="3977640"/>
          </a:xfrm>
          <a:prstGeom prst="rect">
            <a:avLst/>
          </a:prstGeom>
          <a:solidFill>
            <a:srgbClr val="131844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7772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69480" y="1417320"/>
            <a:ext cx="1600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world's most secure, efficient, and user-friendly DeFi protocol"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269480" y="4206240"/>
            <a:ext cx="1600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4206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Global Reach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2D1B69">
              <a:alpha val="55000"/>
            </a:srgbClr>
          </a:solidFill>
          <a:ln w="12700">
            <a:solidFill>
              <a:srgbClr val="2D1B6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Us: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Future of DeFi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0" y="1554480"/>
            <a:ext cx="45720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64208"/>
            <a:ext cx="7680960" cy="1234440"/>
          </a:xfrm>
          <a:prstGeom prst="rect">
            <a:avLst/>
          </a:prstGeom>
          <a:solidFill>
            <a:srgbClr val="1E2A5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09928"/>
            <a:ext cx="7589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is fragmented. We're making it unified, secure, and affordable.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E2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today on Arbitrum Sepolia. Scaling to mainnet in Q4 2026.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45920" y="3063240"/>
            <a:ext cx="2926080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Try Testnet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3456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defisuperapp.io/testnet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03520" y="3063240"/>
            <a:ext cx="292608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Docs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3456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github.com/OkaSher/DeFi_Super-App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github.com/OkaSher/DeFi_Super-App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31844"/>
          </a:solidFill>
          <a:ln w="12700">
            <a:solidFill>
              <a:srgbClr val="1318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future of DeFi is decentralized, secure, and accessible to everyone."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 Super-App Protocol</dc:title>
  <dc:subject>PptxGenJS Presentation</dc:subject>
  <dc:creator>PptxGenJS</dc:creator>
  <cp:lastModifiedBy>PptxGenJS</cp:lastModifiedBy>
  <cp:revision>1</cp:revision>
  <dcterms:created xsi:type="dcterms:W3CDTF">2026-05-18T05:53:11Z</dcterms:created>
  <dcterms:modified xsi:type="dcterms:W3CDTF">2026-05-18T05:53:11Z</dcterms:modified>
</cp:coreProperties>
</file>